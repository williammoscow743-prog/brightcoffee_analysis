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" charset="1" panose="020F0502020204030204"/>
      <p:regular r:id="rId19"/>
    </p:embeddedFont>
    <p:embeddedFont>
      <p:font typeface="Calibri (MS) Bold" charset="1" panose="020F0702030404030204"/>
      <p:regular r:id="rId20"/>
    </p:embeddedFont>
    <p:embeddedFont>
      <p:font typeface="Cambria Bold" charset="1" panose="02040803050406030204"/>
      <p:regular r:id="rId21"/>
    </p:embeddedFont>
    <p:embeddedFont>
      <p:font typeface="Calibri (MS) Italics" charset="1" panose="020F05020202040A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3017520"/>
            <a:ext cx="8915400" cy="8915400"/>
            <a:chOff x="0" y="0"/>
            <a:chExt cx="11887200" cy="1188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2A19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429000" y="6309360"/>
            <a:ext cx="7132320" cy="7132320"/>
            <a:chOff x="0" y="0"/>
            <a:chExt cx="9509760" cy="9509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097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2A191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960120"/>
            <a:ext cx="987552" cy="987552"/>
            <a:chOff x="0" y="0"/>
            <a:chExt cx="1316736" cy="13167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C68B3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120" y="960120"/>
            <a:ext cx="987552" cy="987552"/>
            <a:chOff x="0" y="0"/>
            <a:chExt cx="1316736" cy="13167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316736" cy="14119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>
                  <a:solidFill>
                    <a:srgbClr val="3B241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☕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3497580"/>
            <a:ext cx="14401800" cy="685800"/>
            <a:chOff x="0" y="0"/>
            <a:chExt cx="192024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0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202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50">
                  <a:solidFill>
                    <a:srgbClr val="C68B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BRIGHT COFFEE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1540" y="4114800"/>
            <a:ext cx="15773400" cy="1783080"/>
            <a:chOff x="0" y="0"/>
            <a:chExt cx="21031200" cy="2377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0312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367" r="0" b="-12236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03120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F6EFE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Sales Performance Review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5692140"/>
            <a:ext cx="13030200" cy="685800"/>
            <a:chOff x="0" y="0"/>
            <a:chExt cx="173736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37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73736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EFE2D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 Exploratory Data Analysis of transactions across three New York stores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120" y="8983980"/>
            <a:ext cx="13716000" cy="548640"/>
            <a:chOff x="0" y="0"/>
            <a:chExt cx="182880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January – June 2023   |   Prepared for Bright Coffee Leadership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5087600" cy="822960"/>
            <a:chOff x="0" y="0"/>
            <a:chExt cx="201168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1168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A191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Six Months in Numbers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5087600" cy="548640"/>
            <a:chOff x="0" y="0"/>
            <a:chExt cx="20116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11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149,116 transactions across three stores form the basis of this analysis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811780"/>
            <a:ext cx="3703320" cy="2948940"/>
            <a:chOff x="0" y="0"/>
            <a:chExt cx="4937760" cy="3931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37760" cy="3931920"/>
            </a:xfrm>
            <a:custGeom>
              <a:avLst/>
              <a:gdLst/>
              <a:ahLst/>
              <a:cxnLst/>
              <a:rect r="r" b="b" t="t" l="l"/>
              <a:pathLst>
                <a:path h="3931920" w="4937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754880" y="0"/>
                  </a:lnTo>
                  <a:cubicBezTo>
                    <a:pt x="4855845" y="0"/>
                    <a:pt x="4937760" y="81915"/>
                    <a:pt x="4937760" y="182880"/>
                  </a:cubicBezTo>
                  <a:lnTo>
                    <a:pt x="4937760" y="3749040"/>
                  </a:lnTo>
                  <a:cubicBezTo>
                    <a:pt x="4937760" y="3850005"/>
                    <a:pt x="4855845" y="3931920"/>
                    <a:pt x="475488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FAF6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3195828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C68B3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3195828"/>
            <a:ext cx="754380" cy="754380"/>
            <a:chOff x="0" y="0"/>
            <a:chExt cx="100584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0058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$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4183380"/>
            <a:ext cx="3154680" cy="822960"/>
            <a:chOff x="0" y="0"/>
            <a:chExt cx="420624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06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20624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B241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$698,812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4978908"/>
            <a:ext cx="3154680" cy="617220"/>
            <a:chOff x="0" y="0"/>
            <a:chExt cx="4206240" cy="822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06240" cy="822960"/>
            </a:xfrm>
            <a:custGeom>
              <a:avLst/>
              <a:gdLst/>
              <a:ahLst/>
              <a:cxnLst/>
              <a:rect r="r" b="b" t="t" l="l"/>
              <a:pathLst>
                <a:path h="822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2062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revenue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006340" y="2811780"/>
            <a:ext cx="3703320" cy="2948940"/>
            <a:chOff x="0" y="0"/>
            <a:chExt cx="4937760" cy="393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37760" cy="3931920"/>
            </a:xfrm>
            <a:custGeom>
              <a:avLst/>
              <a:gdLst/>
              <a:ahLst/>
              <a:cxnLst/>
              <a:rect r="r" b="b" t="t" l="l"/>
              <a:pathLst>
                <a:path h="3931920" w="4937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754880" y="0"/>
                  </a:lnTo>
                  <a:cubicBezTo>
                    <a:pt x="4855845" y="0"/>
                    <a:pt x="4937760" y="81915"/>
                    <a:pt x="4937760" y="182880"/>
                  </a:cubicBezTo>
                  <a:lnTo>
                    <a:pt x="4937760" y="3749040"/>
                  </a:lnTo>
                  <a:cubicBezTo>
                    <a:pt x="4937760" y="3850005"/>
                    <a:pt x="4855845" y="3931920"/>
                    <a:pt x="475488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FAF6F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349240" y="3195828"/>
            <a:ext cx="754380" cy="754380"/>
            <a:chOff x="0" y="0"/>
            <a:chExt cx="100584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C68B3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349240" y="3195828"/>
            <a:ext cx="754380" cy="754380"/>
            <a:chOff x="0" y="0"/>
            <a:chExt cx="100584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0058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280660" y="4183380"/>
            <a:ext cx="3154680" cy="822960"/>
            <a:chOff x="0" y="0"/>
            <a:chExt cx="420624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06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20624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B241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149,116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280660" y="4978908"/>
            <a:ext cx="3154680" cy="617220"/>
            <a:chOff x="0" y="0"/>
            <a:chExt cx="4206240" cy="822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06240" cy="822960"/>
            </a:xfrm>
            <a:custGeom>
              <a:avLst/>
              <a:gdLst/>
              <a:ahLst/>
              <a:cxnLst/>
              <a:rect r="r" b="b" t="t" l="l"/>
              <a:pathLst>
                <a:path h="822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2062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Transactions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89720" y="2811780"/>
            <a:ext cx="3703320" cy="2948940"/>
            <a:chOff x="0" y="0"/>
            <a:chExt cx="4937760" cy="3931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37760" cy="3931920"/>
            </a:xfrm>
            <a:custGeom>
              <a:avLst/>
              <a:gdLst/>
              <a:ahLst/>
              <a:cxnLst/>
              <a:rect r="r" b="b" t="t" l="l"/>
              <a:pathLst>
                <a:path h="3931920" w="4937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754880" y="0"/>
                  </a:lnTo>
                  <a:cubicBezTo>
                    <a:pt x="4855845" y="0"/>
                    <a:pt x="4937760" y="81915"/>
                    <a:pt x="4937760" y="182880"/>
                  </a:cubicBezTo>
                  <a:lnTo>
                    <a:pt x="4937760" y="3749040"/>
                  </a:lnTo>
                  <a:cubicBezTo>
                    <a:pt x="4937760" y="3850005"/>
                    <a:pt x="4855845" y="3931920"/>
                    <a:pt x="475488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FAF6F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532620" y="3195828"/>
            <a:ext cx="754380" cy="754380"/>
            <a:chOff x="0" y="0"/>
            <a:chExt cx="1005840" cy="1005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C68B3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32620" y="3195828"/>
            <a:ext cx="754380" cy="754380"/>
            <a:chOff x="0" y="0"/>
            <a:chExt cx="1005840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0058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≡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64040" y="4183380"/>
            <a:ext cx="3154680" cy="822960"/>
            <a:chOff x="0" y="0"/>
            <a:chExt cx="420624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06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420624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B241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214,470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464040" y="4978908"/>
            <a:ext cx="3154680" cy="617220"/>
            <a:chOff x="0" y="0"/>
            <a:chExt cx="4206240" cy="822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06240" cy="822960"/>
            </a:xfrm>
            <a:custGeom>
              <a:avLst/>
              <a:gdLst/>
              <a:ahLst/>
              <a:cxnLst/>
              <a:rect r="r" b="b" t="t" l="l"/>
              <a:pathLst>
                <a:path h="822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2062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Items sold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373100" y="2811780"/>
            <a:ext cx="3703320" cy="2948940"/>
            <a:chOff x="0" y="0"/>
            <a:chExt cx="4937760" cy="39319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37760" cy="3931920"/>
            </a:xfrm>
            <a:custGeom>
              <a:avLst/>
              <a:gdLst/>
              <a:ahLst/>
              <a:cxnLst/>
              <a:rect r="r" b="b" t="t" l="l"/>
              <a:pathLst>
                <a:path h="3931920" w="4937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754880" y="0"/>
                  </a:lnTo>
                  <a:cubicBezTo>
                    <a:pt x="4855845" y="0"/>
                    <a:pt x="4937760" y="81915"/>
                    <a:pt x="4937760" y="182880"/>
                  </a:cubicBezTo>
                  <a:lnTo>
                    <a:pt x="4937760" y="3749040"/>
                  </a:lnTo>
                  <a:cubicBezTo>
                    <a:pt x="4937760" y="3850005"/>
                    <a:pt x="4855845" y="3931920"/>
                    <a:pt x="475488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FAF6F1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716000" y="3195828"/>
            <a:ext cx="754380" cy="754380"/>
            <a:chOff x="0" y="0"/>
            <a:chExt cx="1005840" cy="10058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C68B3C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716000" y="3195828"/>
            <a:ext cx="754380" cy="754380"/>
            <a:chOff x="0" y="0"/>
            <a:chExt cx="1005840" cy="1005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10058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Ø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647420" y="4183380"/>
            <a:ext cx="3154680" cy="822960"/>
            <a:chOff x="0" y="0"/>
            <a:chExt cx="4206240" cy="1097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206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420624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B241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$4.69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647420" y="4978908"/>
            <a:ext cx="3154680" cy="617220"/>
            <a:chOff x="0" y="0"/>
            <a:chExt cx="4206240" cy="8229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06240" cy="822960"/>
            </a:xfrm>
            <a:custGeom>
              <a:avLst/>
              <a:gdLst/>
              <a:ahLst/>
              <a:cxnLst/>
              <a:rect r="r" b="b" t="t" l="l"/>
              <a:pathLst>
                <a:path h="822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2062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order value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" y="6240780"/>
            <a:ext cx="15636240" cy="1097280"/>
            <a:chOff x="0" y="0"/>
            <a:chExt cx="20848320" cy="14630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848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2084832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i="true">
                  <a:solidFill>
                    <a:srgbClr val="2A191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Revenue nearly doubled between January ($81.7K) and June ($166.5K), driven by steady growth in transaction volume rather than higher prices — a sign the customer base itself is expanding.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22960" y="7612380"/>
            <a:ext cx="15636240" cy="27432"/>
            <a:chOff x="0" y="0"/>
            <a:chExt cx="20848320" cy="3657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848320" cy="36576"/>
            </a:xfrm>
            <a:custGeom>
              <a:avLst/>
              <a:gdLst/>
              <a:ahLst/>
              <a:cxnLst/>
              <a:rect r="r" b="b" t="t" l="l"/>
              <a:pathLst>
                <a:path h="3657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FE2D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22960" y="7886700"/>
            <a:ext cx="15636240" cy="548640"/>
            <a:chOff x="0" y="0"/>
            <a:chExt cx="2084832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84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0848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source: Bright Coffee point-of-sale export, Jan 1 – Jun 30, 2023 (3 store locations)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800" y="9669780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BRIGHT COFFEE  •  SALES PERFORMANCE REVIEW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5773400" cy="822960"/>
            <a:chOff x="0" y="0"/>
            <a:chExt cx="21031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463" r="0" b="-3234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2A191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Coffee and Tea Drive Two-Thirds of Revenue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5087600" cy="548640"/>
            <a:chOff x="0" y="0"/>
            <a:chExt cx="20116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11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revenue by product category, Jan–Jun 2023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452628" y="1261872"/>
            <a:ext cx="13661136" cy="9546336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2412980" y="2606040"/>
            <a:ext cx="5143500" cy="2125980"/>
            <a:chOff x="0" y="0"/>
            <a:chExt cx="6858000" cy="2834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580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2688336"/>
                  </a:lnTo>
                  <a:cubicBezTo>
                    <a:pt x="6858000" y="2769108"/>
                    <a:pt x="6792468" y="2834640"/>
                    <a:pt x="671169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FAF6F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755880" y="2770632"/>
            <a:ext cx="4526280" cy="685800"/>
            <a:chOff x="0" y="0"/>
            <a:chExt cx="603504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3B241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38.6%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55880" y="3538728"/>
            <a:ext cx="4526280" cy="1028700"/>
            <a:chOff x="0" y="0"/>
            <a:chExt cx="6035040" cy="1371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350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03504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all revenue comes from Coffee alone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12980" y="5006340"/>
            <a:ext cx="5143500" cy="2125980"/>
            <a:chOff x="0" y="0"/>
            <a:chExt cx="6858000" cy="2834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580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2688336"/>
                  </a:lnTo>
                  <a:cubicBezTo>
                    <a:pt x="6858000" y="2769108"/>
                    <a:pt x="6792468" y="2834640"/>
                    <a:pt x="671169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FAF6F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755880" y="5170932"/>
            <a:ext cx="4526280" cy="685800"/>
            <a:chOff x="0" y="0"/>
            <a:chExt cx="603504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3B241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28.1%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755880" y="5939028"/>
            <a:ext cx="4526280" cy="1028700"/>
            <a:chOff x="0" y="0"/>
            <a:chExt cx="603504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350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03504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comes from Tea, the second-largest category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412980" y="7406640"/>
            <a:ext cx="5143500" cy="2125980"/>
            <a:chOff x="0" y="0"/>
            <a:chExt cx="6858000" cy="2834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580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2688336"/>
                  </a:lnTo>
                  <a:cubicBezTo>
                    <a:pt x="6858000" y="2769108"/>
                    <a:pt x="6792468" y="2834640"/>
                    <a:pt x="671169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FAF6F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755880" y="7571232"/>
            <a:ext cx="4526280" cy="685800"/>
            <a:chOff x="0" y="0"/>
            <a:chExt cx="603504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3B241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Long tail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55880" y="8339328"/>
            <a:ext cx="4526280" cy="1028700"/>
            <a:chOff x="0" y="0"/>
            <a:chExt cx="6035040" cy="1371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350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03504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Bakery, chocolate and beans round out the remaining third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85800" y="9669780"/>
            <a:ext cx="10972800" cy="411480"/>
            <a:chOff x="0" y="0"/>
            <a:chExt cx="146304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BRIGHT COFFEE  •  SALES PERFORMANCE REVIEW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5773400" cy="822960"/>
            <a:chOff x="0" y="0"/>
            <a:chExt cx="21031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463" r="0" b="-3234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2A191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Performance Is Balanced Across All Three Stores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5087600" cy="548640"/>
            <a:chOff x="0" y="0"/>
            <a:chExt cx="20116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11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revenue by store location, Jan–Jun 2023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82296" y="1632204"/>
            <a:ext cx="10863072" cy="8531352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0355580" y="2537460"/>
            <a:ext cx="7132320" cy="6720840"/>
            <a:chOff x="0" y="0"/>
            <a:chExt cx="9509760" cy="896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09760" cy="8961120"/>
            </a:xfrm>
            <a:custGeom>
              <a:avLst/>
              <a:gdLst/>
              <a:ahLst/>
              <a:cxnLst/>
              <a:rect r="r" b="b" t="t" l="l"/>
              <a:pathLst>
                <a:path h="8961120" w="9509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326880" y="0"/>
                  </a:lnTo>
                  <a:cubicBezTo>
                    <a:pt x="9427845" y="0"/>
                    <a:pt x="9509760" y="81915"/>
                    <a:pt x="9509760" y="182880"/>
                  </a:cubicBezTo>
                  <a:lnTo>
                    <a:pt x="9509760" y="8778240"/>
                  </a:lnTo>
                  <a:cubicBezTo>
                    <a:pt x="9509760" y="8879205"/>
                    <a:pt x="9427845" y="8961120"/>
                    <a:pt x="9326880" y="8961120"/>
                  </a:cubicBezTo>
                  <a:lnTo>
                    <a:pt x="182880" y="8961120"/>
                  </a:lnTo>
                  <a:cubicBezTo>
                    <a:pt x="81915" y="8961120"/>
                    <a:pt x="0" y="8879205"/>
                    <a:pt x="0" y="8778240"/>
                  </a:cubicBezTo>
                  <a:close/>
                </a:path>
              </a:pathLst>
            </a:custGeom>
            <a:solidFill>
              <a:srgbClr val="3B241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835640" y="2948940"/>
            <a:ext cx="6172200" cy="685800"/>
            <a:chOff x="0" y="0"/>
            <a:chExt cx="82296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2960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8229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C68B3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Only a 2.8% spread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35640" y="3703320"/>
            <a:ext cx="6172200" cy="1508760"/>
            <a:chOff x="0" y="0"/>
            <a:chExt cx="8229600" cy="2011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29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229600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6EF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separates the highest- and lowest-earning store, and the category mix within each is nearly identical.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35640" y="5554980"/>
            <a:ext cx="6172200" cy="13716"/>
            <a:chOff x="0" y="0"/>
            <a:chExt cx="8229600" cy="18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0" cy="18288"/>
            </a:xfrm>
            <a:custGeom>
              <a:avLst/>
              <a:gdLst/>
              <a:ahLst/>
              <a:cxnLst/>
              <a:rect r="r" b="b" t="t" l="l"/>
              <a:pathLst>
                <a:path h="18288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5A443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835640" y="5692140"/>
            <a:ext cx="6172200" cy="411480"/>
            <a:chOff x="0" y="0"/>
            <a:chExt cx="82296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229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FE2D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Coffee revenue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35640" y="6103620"/>
            <a:ext cx="6172200" cy="480060"/>
            <a:chOff x="0" y="0"/>
            <a:chExt cx="822960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229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9B8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$88.9K – $91.2K per store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35640" y="6624828"/>
            <a:ext cx="6172200" cy="13716"/>
            <a:chOff x="0" y="0"/>
            <a:chExt cx="8229600" cy="182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9600" cy="18288"/>
            </a:xfrm>
            <a:custGeom>
              <a:avLst/>
              <a:gdLst/>
              <a:ahLst/>
              <a:cxnLst/>
              <a:rect r="r" b="b" t="t" l="l"/>
              <a:pathLst>
                <a:path h="18288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5A443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835640" y="6761988"/>
            <a:ext cx="6172200" cy="411480"/>
            <a:chOff x="0" y="0"/>
            <a:chExt cx="822960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229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FE2D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 revenue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835640" y="7173468"/>
            <a:ext cx="6172200" cy="480060"/>
            <a:chOff x="0" y="0"/>
            <a:chExt cx="822960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229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9B8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$63.9K – $67.8K per store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835640" y="7694676"/>
            <a:ext cx="6172200" cy="13716"/>
            <a:chOff x="0" y="0"/>
            <a:chExt cx="8229600" cy="182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29600" cy="18288"/>
            </a:xfrm>
            <a:custGeom>
              <a:avLst/>
              <a:gdLst/>
              <a:ahLst/>
              <a:cxnLst/>
              <a:rect r="r" b="b" t="t" l="l"/>
              <a:pathLst>
                <a:path h="18288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5A443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835640" y="7831836"/>
            <a:ext cx="6172200" cy="411480"/>
            <a:chOff x="0" y="0"/>
            <a:chExt cx="822960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229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FE2D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Coffee beans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835640" y="8243316"/>
            <a:ext cx="6172200" cy="480060"/>
            <a:chOff x="0" y="0"/>
            <a:chExt cx="8229600" cy="640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229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9B8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Hell's Kitchen leads at $18.6K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5800" y="9669780"/>
            <a:ext cx="10972800" cy="411480"/>
            <a:chOff x="0" y="0"/>
            <a:chExt cx="14630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BRIGHT COFFEE  •  SALES PERFORMANCE REVIEW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6047720" cy="822960"/>
            <a:chOff x="0" y="0"/>
            <a:chExt cx="2139696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969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39696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2A191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Revenue and Traffic Both Accelerated Every Month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5087600" cy="548640"/>
            <a:chOff x="0" y="0"/>
            <a:chExt cx="20116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11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Monthly revenue vs. transaction count, Jan–Jun 2023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56616" y="1426464"/>
            <a:ext cx="12508992" cy="8805672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1452860" y="2468880"/>
            <a:ext cx="6035040" cy="6720840"/>
            <a:chOff x="0" y="0"/>
            <a:chExt cx="8046720" cy="896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46720" cy="8961120"/>
            </a:xfrm>
            <a:custGeom>
              <a:avLst/>
              <a:gdLst/>
              <a:ahLst/>
              <a:cxnLst/>
              <a:rect r="r" b="b" t="t" l="l"/>
              <a:pathLst>
                <a:path h="8961120" w="80467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7863840" y="0"/>
                  </a:lnTo>
                  <a:cubicBezTo>
                    <a:pt x="7964805" y="0"/>
                    <a:pt x="8046720" y="81915"/>
                    <a:pt x="8046720" y="182880"/>
                  </a:cubicBezTo>
                  <a:lnTo>
                    <a:pt x="8046720" y="8778240"/>
                  </a:lnTo>
                  <a:cubicBezTo>
                    <a:pt x="8046720" y="8879205"/>
                    <a:pt x="7964805" y="8961120"/>
                    <a:pt x="7863840" y="8961120"/>
                  </a:cubicBezTo>
                  <a:lnTo>
                    <a:pt x="182880" y="8961120"/>
                  </a:lnTo>
                  <a:cubicBezTo>
                    <a:pt x="81915" y="8961120"/>
                    <a:pt x="0" y="8879205"/>
                    <a:pt x="0" y="8778240"/>
                  </a:cubicBezTo>
                  <a:close/>
                </a:path>
              </a:pathLst>
            </a:custGeom>
            <a:solidFill>
              <a:srgbClr val="FAF6F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864340" y="2743200"/>
            <a:ext cx="5212080" cy="822960"/>
            <a:chOff x="0" y="0"/>
            <a:chExt cx="69494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49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9494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B241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+104%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64340" y="3634740"/>
            <a:ext cx="5212080" cy="822960"/>
            <a:chOff x="0" y="0"/>
            <a:chExt cx="694944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49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9494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growth in transaction count from January to June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64340" y="4663440"/>
            <a:ext cx="5212080" cy="20574"/>
            <a:chOff x="0" y="0"/>
            <a:chExt cx="6949440" cy="274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49440" cy="27432"/>
            </a:xfrm>
            <a:custGeom>
              <a:avLst/>
              <a:gdLst/>
              <a:ahLst/>
              <a:cxnLst/>
              <a:rect r="r" b="b" t="t" l="l"/>
              <a:pathLst>
                <a:path h="2743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FE2D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864340" y="4937760"/>
            <a:ext cx="1371600" cy="438912"/>
            <a:chOff x="0" y="0"/>
            <a:chExt cx="1828800" cy="5852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28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828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191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373100" y="5006340"/>
            <a:ext cx="1746561" cy="274320"/>
            <a:chOff x="0" y="0"/>
            <a:chExt cx="2328748" cy="365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28799" cy="365760"/>
            </a:xfrm>
            <a:custGeom>
              <a:avLst/>
              <a:gdLst/>
              <a:ahLst/>
              <a:cxnLst/>
              <a:rect r="r" b="b" t="t" l="l"/>
              <a:pathLst>
                <a:path h="365760" w="2328799">
                  <a:moveTo>
                    <a:pt x="0" y="0"/>
                  </a:moveTo>
                  <a:lnTo>
                    <a:pt x="2328799" y="0"/>
                  </a:lnTo>
                  <a:lnTo>
                    <a:pt x="2328799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6E7F5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007840" y="4937760"/>
            <a:ext cx="1234440" cy="438912"/>
            <a:chOff x="0" y="0"/>
            <a:chExt cx="1645920" cy="5852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45920" cy="585216"/>
            </a:xfrm>
            <a:custGeom>
              <a:avLst/>
              <a:gdLst/>
              <a:ahLst/>
              <a:cxnLst/>
              <a:rect r="r" b="b" t="t" l="l"/>
              <a:pathLst>
                <a:path h="5852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6459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17,314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64340" y="5513832"/>
            <a:ext cx="1371600" cy="438912"/>
            <a:chOff x="0" y="0"/>
            <a:chExt cx="1828800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28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828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191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Feb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373100" y="5582412"/>
            <a:ext cx="1650225" cy="274320"/>
            <a:chOff x="0" y="0"/>
            <a:chExt cx="2200300" cy="3657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00275" cy="365760"/>
            </a:xfrm>
            <a:custGeom>
              <a:avLst/>
              <a:gdLst/>
              <a:ahLst/>
              <a:cxnLst/>
              <a:rect r="r" b="b" t="t" l="l"/>
              <a:pathLst>
                <a:path h="365760" w="2200275">
                  <a:moveTo>
                    <a:pt x="0" y="0"/>
                  </a:moveTo>
                  <a:lnTo>
                    <a:pt x="2200275" y="0"/>
                  </a:lnTo>
                  <a:lnTo>
                    <a:pt x="2200275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6E7F5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7007840" y="5513832"/>
            <a:ext cx="1234440" cy="438912"/>
            <a:chOff x="0" y="0"/>
            <a:chExt cx="164592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45920" cy="585216"/>
            </a:xfrm>
            <a:custGeom>
              <a:avLst/>
              <a:gdLst/>
              <a:ahLst/>
              <a:cxnLst/>
              <a:rect r="r" b="b" t="t" l="l"/>
              <a:pathLst>
                <a:path h="5852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6459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16,359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64340" y="6089904"/>
            <a:ext cx="1371600" cy="438912"/>
            <a:chOff x="0" y="0"/>
            <a:chExt cx="182880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28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828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191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373100" y="6158484"/>
            <a:ext cx="2141496" cy="274320"/>
            <a:chOff x="0" y="0"/>
            <a:chExt cx="2855328" cy="3657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55341" cy="365760"/>
            </a:xfrm>
            <a:custGeom>
              <a:avLst/>
              <a:gdLst/>
              <a:ahLst/>
              <a:cxnLst/>
              <a:rect r="r" b="b" t="t" l="l"/>
              <a:pathLst>
                <a:path h="365760" w="2855341">
                  <a:moveTo>
                    <a:pt x="0" y="0"/>
                  </a:moveTo>
                  <a:lnTo>
                    <a:pt x="2855341" y="0"/>
                  </a:lnTo>
                  <a:lnTo>
                    <a:pt x="2855341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6E7F5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7007840" y="6089904"/>
            <a:ext cx="1234440" cy="438912"/>
            <a:chOff x="0" y="0"/>
            <a:chExt cx="1645920" cy="5852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45920" cy="585216"/>
            </a:xfrm>
            <a:custGeom>
              <a:avLst/>
              <a:gdLst/>
              <a:ahLst/>
              <a:cxnLst/>
              <a:rect r="r" b="b" t="t" l="l"/>
              <a:pathLst>
                <a:path h="5852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6459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21,229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864340" y="6665976"/>
            <a:ext cx="1371600" cy="438912"/>
            <a:chOff x="0" y="0"/>
            <a:chExt cx="1828800" cy="5852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28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828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191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373100" y="6734556"/>
            <a:ext cx="2555691" cy="274320"/>
            <a:chOff x="0" y="0"/>
            <a:chExt cx="3407588" cy="3657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407537" cy="365760"/>
            </a:xfrm>
            <a:custGeom>
              <a:avLst/>
              <a:gdLst/>
              <a:ahLst/>
              <a:cxnLst/>
              <a:rect r="r" b="b" t="t" l="l"/>
              <a:pathLst>
                <a:path h="365760" w="3407537">
                  <a:moveTo>
                    <a:pt x="0" y="0"/>
                  </a:moveTo>
                  <a:lnTo>
                    <a:pt x="3407537" y="0"/>
                  </a:lnTo>
                  <a:lnTo>
                    <a:pt x="3407537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6E7F5C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007840" y="6665976"/>
            <a:ext cx="1234440" cy="438912"/>
            <a:chOff x="0" y="0"/>
            <a:chExt cx="1645920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45920" cy="585216"/>
            </a:xfrm>
            <a:custGeom>
              <a:avLst/>
              <a:gdLst/>
              <a:ahLst/>
              <a:cxnLst/>
              <a:rect r="r" b="b" t="t" l="l"/>
              <a:pathLst>
                <a:path h="5852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6459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25,335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864340" y="7242048"/>
            <a:ext cx="1371600" cy="438912"/>
            <a:chOff x="0" y="0"/>
            <a:chExt cx="1828800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28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828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191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373100" y="7310628"/>
            <a:ext cx="3382061" cy="274320"/>
            <a:chOff x="0" y="0"/>
            <a:chExt cx="4509414" cy="3657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509389" cy="365760"/>
            </a:xfrm>
            <a:custGeom>
              <a:avLst/>
              <a:gdLst/>
              <a:ahLst/>
              <a:cxnLst/>
              <a:rect r="r" b="b" t="t" l="l"/>
              <a:pathLst>
                <a:path h="365760" w="4509389">
                  <a:moveTo>
                    <a:pt x="0" y="0"/>
                  </a:moveTo>
                  <a:lnTo>
                    <a:pt x="4509389" y="0"/>
                  </a:lnTo>
                  <a:lnTo>
                    <a:pt x="4509389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6E7F5C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7007840" y="7242048"/>
            <a:ext cx="1234440" cy="438912"/>
            <a:chOff x="0" y="0"/>
            <a:chExt cx="1645920" cy="5852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45920" cy="585216"/>
            </a:xfrm>
            <a:custGeom>
              <a:avLst/>
              <a:gdLst/>
              <a:ahLst/>
              <a:cxnLst/>
              <a:rect r="r" b="b" t="t" l="l"/>
              <a:pathLst>
                <a:path h="5852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6459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33,527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864340" y="7818120"/>
            <a:ext cx="1371600" cy="438912"/>
            <a:chOff x="0" y="0"/>
            <a:chExt cx="1828800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28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828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191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373100" y="7886700"/>
            <a:ext cx="3566160" cy="274320"/>
            <a:chOff x="0" y="0"/>
            <a:chExt cx="4754880" cy="3657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754880" cy="365760"/>
            </a:xfrm>
            <a:custGeom>
              <a:avLst/>
              <a:gdLst/>
              <a:ahLst/>
              <a:cxnLst/>
              <a:rect r="r" b="b" t="t" l="l"/>
              <a:pathLst>
                <a:path h="3657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6E7F5C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7007840" y="7818120"/>
            <a:ext cx="1234440" cy="438912"/>
            <a:chOff x="0" y="0"/>
            <a:chExt cx="1645920" cy="58521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645920" cy="585216"/>
            </a:xfrm>
            <a:custGeom>
              <a:avLst/>
              <a:gdLst/>
              <a:ahLst/>
              <a:cxnLst/>
              <a:rect r="r" b="b" t="t" l="l"/>
              <a:pathLst>
                <a:path h="5852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1" r="0" b="-480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16459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35,352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22960" y="9052560"/>
            <a:ext cx="15636240" cy="480060"/>
            <a:chOff x="0" y="0"/>
            <a:chExt cx="20848320" cy="6400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84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4655" r="0" b="-58465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08483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8A75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Growth in both revenue and transactions — not just average spend — points to a genuinely expanding customer base rather than seasonal price effects.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85800" y="9669780"/>
            <a:ext cx="10972800" cy="411480"/>
            <a:chOff x="0" y="0"/>
            <a:chExt cx="1463040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BRIGHT COFFEE  •  SALES PERFORMANCE REVIEW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5773400" cy="822960"/>
            <a:chOff x="0" y="0"/>
            <a:chExt cx="21031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463" r="0" b="-3234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2A191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Morning Commute Is Peak Trading Time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5087600" cy="548640"/>
            <a:chOff x="0" y="0"/>
            <a:chExt cx="20116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11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Transactions by hour of day, all stores combined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946404" y="836676"/>
            <a:ext cx="19586448" cy="8956548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822960" y="8572500"/>
            <a:ext cx="15636240" cy="480060"/>
            <a:chOff x="0" y="0"/>
            <a:chExt cx="20848320" cy="640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84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4655" r="0" b="-5846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08483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B24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7–10am accounts for roughly 45% of the day's transactions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9052560"/>
            <a:ext cx="15636240" cy="480060"/>
            <a:chOff x="0" y="0"/>
            <a:chExt cx="2084832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4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4655" r="0" b="-58465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8483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8A75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Volume stays flat through the afternoon rather than spiking again at lunch, then tapers off after 6pm.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669780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BRIGHT COFFEE  •  SALES PERFORMANCE REVIEW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5773400" cy="822960"/>
            <a:chOff x="0" y="0"/>
            <a:chExt cx="21031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463" r="0" b="-3234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2A191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Eight Products Anchor a Wide, Varied Menu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5087600" cy="548640"/>
            <a:chOff x="0" y="0"/>
            <a:chExt cx="20116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11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products by total revenue, Jan–Jun 2023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411480" y="1371600"/>
            <a:ext cx="13167360" cy="918972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2138660" y="2468880"/>
            <a:ext cx="5349240" cy="6995160"/>
            <a:chOff x="0" y="0"/>
            <a:chExt cx="7132320" cy="932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32320" cy="9326880"/>
            </a:xfrm>
            <a:custGeom>
              <a:avLst/>
              <a:gdLst/>
              <a:ahLst/>
              <a:cxnLst/>
              <a:rect r="r" b="b" t="t" l="l"/>
              <a:pathLst>
                <a:path h="9326880" w="7132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49440" y="0"/>
                  </a:lnTo>
                  <a:cubicBezTo>
                    <a:pt x="7050405" y="0"/>
                    <a:pt x="7132320" y="81915"/>
                    <a:pt x="7132320" y="182880"/>
                  </a:cubicBezTo>
                  <a:lnTo>
                    <a:pt x="7132320" y="9144000"/>
                  </a:lnTo>
                  <a:cubicBezTo>
                    <a:pt x="7132320" y="9244965"/>
                    <a:pt x="7050405" y="9326880"/>
                    <a:pt x="6949440" y="9326880"/>
                  </a:cubicBezTo>
                  <a:lnTo>
                    <a:pt x="182880" y="9326880"/>
                  </a:lnTo>
                  <a:cubicBezTo>
                    <a:pt x="81915" y="9326880"/>
                    <a:pt x="0" y="9244965"/>
                    <a:pt x="0" y="9144000"/>
                  </a:cubicBezTo>
                  <a:close/>
                </a:path>
              </a:pathLst>
            </a:custGeom>
            <a:solidFill>
              <a:srgbClr val="FAF6F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550140" y="2880360"/>
            <a:ext cx="754380" cy="754380"/>
            <a:chOff x="0" y="0"/>
            <a:chExt cx="1005840" cy="1005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C68B3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550140" y="2880360"/>
            <a:ext cx="754380" cy="754380"/>
            <a:chOff x="0" y="0"/>
            <a:chExt cx="10058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0058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★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550140" y="3909060"/>
            <a:ext cx="4526280" cy="685800"/>
            <a:chOff x="0" y="0"/>
            <a:chExt cx="603504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60350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B241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 single hit product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50140" y="4594860"/>
            <a:ext cx="4526280" cy="2194560"/>
            <a:chOff x="0" y="0"/>
            <a:chExt cx="6035040" cy="2926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350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207" t="0" r="-12207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03504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191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top 8 items span coffee, tea and chocolate and each contribute a similar $16–$21K — revenue is spread across a broad menu rather than concentrated in one bestseller.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550140" y="7063740"/>
            <a:ext cx="4526280" cy="1920240"/>
            <a:chOff x="0" y="0"/>
            <a:chExt cx="6035040" cy="2560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3504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31" t="0" r="-443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035040" cy="259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8A75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Large-size drinks (“Lg”) dominate this list, suggesting upsizing is already a strong habit among regulars.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5800" y="9669780"/>
            <a:ext cx="10972800" cy="411480"/>
            <a:chOff x="0" y="0"/>
            <a:chExt cx="14630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BRIGHT COFFEE  •  SALES PERFORMANCE REVIEW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5773400" cy="822960"/>
            <a:chOff x="0" y="0"/>
            <a:chExt cx="21031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463" r="0" b="-3234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2A191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Every Store Sells the Same Way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5087600" cy="548640"/>
            <a:chOff x="0" y="0"/>
            <a:chExt cx="20116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11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Revenue by store and top product categories, Jan–Jun 2023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946404" y="905256"/>
            <a:ext cx="19586448" cy="9436608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822960" y="9162288"/>
            <a:ext cx="15636240" cy="480060"/>
            <a:chOff x="0" y="0"/>
            <a:chExt cx="20848320" cy="640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848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4655" r="0" b="-5846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8483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8A75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ranking of categories — Coffee, then Tea, then Bakery and Chocolate — holds at all three locations, so successful playbooks can be shared across stores with minimal adaptation.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9669780"/>
            <a:ext cx="10972800" cy="411480"/>
            <a:chOff x="0" y="0"/>
            <a:chExt cx="14630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BRIGHT COFFEE  •  SALES PERFORMANCE REVIEW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5773400" cy="822960"/>
            <a:chOff x="0" y="0"/>
            <a:chExt cx="21031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463" r="0" b="-3234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2A191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This Means for Bright Coffee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5087600" cy="548640"/>
            <a:chOff x="0" y="0"/>
            <a:chExt cx="20116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11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insights and recommended actions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7612380" cy="3223260"/>
            <a:chOff x="0" y="0"/>
            <a:chExt cx="10149840" cy="4297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498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01498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966960" y="0"/>
                  </a:lnTo>
                  <a:cubicBezTo>
                    <a:pt x="10067925" y="0"/>
                    <a:pt x="10149840" y="81915"/>
                    <a:pt x="10149840" y="182880"/>
                  </a:cubicBezTo>
                  <a:lnTo>
                    <a:pt x="10149840" y="4114800"/>
                  </a:lnTo>
                  <a:cubicBezTo>
                    <a:pt x="10149840" y="4215765"/>
                    <a:pt x="10067925" y="4297680"/>
                    <a:pt x="9966960" y="4297680"/>
                  </a:cubicBezTo>
                  <a:lnTo>
                    <a:pt x="182880" y="4297680"/>
                  </a:lnTo>
                  <a:cubicBezTo>
                    <a:pt x="81915" y="4297680"/>
                    <a:pt x="0" y="4215765"/>
                    <a:pt x="0" y="4114800"/>
                  </a:cubicBezTo>
                  <a:close/>
                </a:path>
              </a:pathLst>
            </a:custGeom>
            <a:solidFill>
              <a:srgbClr val="FAF6F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3086100"/>
            <a:ext cx="850392" cy="850392"/>
            <a:chOff x="0" y="0"/>
            <a:chExt cx="1133856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C68B3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3086100"/>
            <a:ext cx="850392" cy="850392"/>
            <a:chOff x="0" y="0"/>
            <a:chExt cx="1133856" cy="11338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133856" cy="12005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☕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31720" y="3017520"/>
            <a:ext cx="5692140" cy="960120"/>
            <a:chOff x="0" y="0"/>
            <a:chExt cx="758952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895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518" r="0" b="-6551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75895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B241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Coffee and tea are the growth engine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4114800"/>
            <a:ext cx="6789420" cy="1577340"/>
            <a:chOff x="0" y="0"/>
            <a:chExt cx="9052560" cy="2103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525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70" r="0" b="-3387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05256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191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Together they drive 67% of revenue. Prioritize promotions, seasonal drinks and loyalty offers on these two categories first.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846820" y="2674620"/>
            <a:ext cx="7612380" cy="3223260"/>
            <a:chOff x="0" y="0"/>
            <a:chExt cx="10149840" cy="4297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498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01498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966960" y="0"/>
                  </a:lnTo>
                  <a:cubicBezTo>
                    <a:pt x="10067925" y="0"/>
                    <a:pt x="10149840" y="81915"/>
                    <a:pt x="10149840" y="182880"/>
                  </a:cubicBezTo>
                  <a:lnTo>
                    <a:pt x="10149840" y="4114800"/>
                  </a:lnTo>
                  <a:cubicBezTo>
                    <a:pt x="10149840" y="4215765"/>
                    <a:pt x="10067925" y="4297680"/>
                    <a:pt x="9966960" y="4297680"/>
                  </a:cubicBezTo>
                  <a:lnTo>
                    <a:pt x="182880" y="4297680"/>
                  </a:lnTo>
                  <a:cubicBezTo>
                    <a:pt x="81915" y="4297680"/>
                    <a:pt x="0" y="4215765"/>
                    <a:pt x="0" y="4114800"/>
                  </a:cubicBezTo>
                  <a:close/>
                </a:path>
              </a:pathLst>
            </a:custGeom>
            <a:solidFill>
              <a:srgbClr val="FAF6F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258300" y="3086100"/>
            <a:ext cx="850392" cy="850392"/>
            <a:chOff x="0" y="0"/>
            <a:chExt cx="1133856" cy="11338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C68B3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258300" y="3086100"/>
            <a:ext cx="850392" cy="850392"/>
            <a:chOff x="0" y="0"/>
            <a:chExt cx="1133856" cy="11338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133856" cy="12005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⏰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355580" y="3017520"/>
            <a:ext cx="5692140" cy="960120"/>
            <a:chOff x="0" y="0"/>
            <a:chExt cx="7589520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895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518" r="0" b="-6551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75895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B241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Staff and stock for the morning rush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58300" y="4114800"/>
            <a:ext cx="6789420" cy="1577340"/>
            <a:chOff x="0" y="0"/>
            <a:chExt cx="9052560" cy="2103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0525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70" r="0" b="-3387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05256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191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7–10am drives roughly 45% of daily transactions. Ensure peak staffing and inventory are set before doors open, not after.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6240780"/>
            <a:ext cx="7612380" cy="3223260"/>
            <a:chOff x="0" y="0"/>
            <a:chExt cx="10149840" cy="42976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498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01498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966960" y="0"/>
                  </a:lnTo>
                  <a:cubicBezTo>
                    <a:pt x="10067925" y="0"/>
                    <a:pt x="10149840" y="81915"/>
                    <a:pt x="10149840" y="182880"/>
                  </a:cubicBezTo>
                  <a:lnTo>
                    <a:pt x="10149840" y="4114800"/>
                  </a:lnTo>
                  <a:cubicBezTo>
                    <a:pt x="10149840" y="4215765"/>
                    <a:pt x="10067925" y="4297680"/>
                    <a:pt x="9966960" y="4297680"/>
                  </a:cubicBezTo>
                  <a:lnTo>
                    <a:pt x="182880" y="4297680"/>
                  </a:lnTo>
                  <a:cubicBezTo>
                    <a:pt x="81915" y="4297680"/>
                    <a:pt x="0" y="4215765"/>
                    <a:pt x="0" y="4114800"/>
                  </a:cubicBezTo>
                  <a:close/>
                </a:path>
              </a:pathLst>
            </a:custGeom>
            <a:solidFill>
              <a:srgbClr val="FAF6F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34440" y="6652260"/>
            <a:ext cx="850392" cy="850392"/>
            <a:chOff x="0" y="0"/>
            <a:chExt cx="1133856" cy="11338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C68B3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34440" y="6652260"/>
            <a:ext cx="850392" cy="850392"/>
            <a:chOff x="0" y="0"/>
            <a:chExt cx="1133856" cy="11338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133856" cy="12005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↑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331720" y="6583680"/>
            <a:ext cx="5692140" cy="960120"/>
            <a:chOff x="0" y="0"/>
            <a:chExt cx="7589520" cy="1280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5895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518" r="0" b="-6551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75895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B241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customer base is genuinely growing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34440" y="7680960"/>
            <a:ext cx="6789420" cy="1577340"/>
            <a:chOff x="0" y="0"/>
            <a:chExt cx="9052560" cy="2103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0525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70" r="0" b="-3387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05256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191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Transactions rose 104% from January to June while spend-per-order held steady — invest in capacity to sustain the trend.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846820" y="6240780"/>
            <a:ext cx="7612380" cy="3223260"/>
            <a:chOff x="0" y="0"/>
            <a:chExt cx="10149840" cy="429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1498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01498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966960" y="0"/>
                  </a:lnTo>
                  <a:cubicBezTo>
                    <a:pt x="10067925" y="0"/>
                    <a:pt x="10149840" y="81915"/>
                    <a:pt x="10149840" y="182880"/>
                  </a:cubicBezTo>
                  <a:lnTo>
                    <a:pt x="10149840" y="4114800"/>
                  </a:lnTo>
                  <a:cubicBezTo>
                    <a:pt x="10149840" y="4215765"/>
                    <a:pt x="10067925" y="4297680"/>
                    <a:pt x="9966960" y="4297680"/>
                  </a:cubicBezTo>
                  <a:lnTo>
                    <a:pt x="182880" y="4297680"/>
                  </a:lnTo>
                  <a:cubicBezTo>
                    <a:pt x="81915" y="4297680"/>
                    <a:pt x="0" y="4215765"/>
                    <a:pt x="0" y="4114800"/>
                  </a:cubicBezTo>
                  <a:close/>
                </a:path>
              </a:pathLst>
            </a:custGeom>
            <a:solidFill>
              <a:srgbClr val="FAF6F1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258300" y="6652260"/>
            <a:ext cx="850392" cy="850392"/>
            <a:chOff x="0" y="0"/>
            <a:chExt cx="1133856" cy="11338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C68B3C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258300" y="6652260"/>
            <a:ext cx="850392" cy="850392"/>
            <a:chOff x="0" y="0"/>
            <a:chExt cx="1133856" cy="11338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1133856" cy="12005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⇄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355580" y="6583680"/>
            <a:ext cx="5692140" cy="960120"/>
            <a:chOff x="0" y="0"/>
            <a:chExt cx="7589520" cy="12801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5895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518" r="0" b="-6551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75895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B241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Replicate what works, store to store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258300" y="7680960"/>
            <a:ext cx="6789420" cy="1577340"/>
            <a:chOff x="0" y="0"/>
            <a:chExt cx="9052560" cy="21031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0525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70" r="0" b="-3387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905256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191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Category performance is nearly identical across all three locations, so successful promotions can roll out chain-wide with confidence.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85800" y="9669780"/>
            <a:ext cx="10972800" cy="411480"/>
            <a:chOff x="0" y="0"/>
            <a:chExt cx="1463040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BRIGHT COFFEE  •  SALES PERFORMANCE REVIEW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6911828" y="9669780"/>
            <a:ext cx="685800" cy="411480"/>
            <a:chOff x="0" y="0"/>
            <a:chExt cx="91440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40480" y="-3566160"/>
            <a:ext cx="8503920" cy="8503920"/>
            <a:chOff x="0" y="0"/>
            <a:chExt cx="11338560" cy="11338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0" cy="11338560"/>
            </a:xfrm>
            <a:custGeom>
              <a:avLst/>
              <a:gdLst/>
              <a:ahLst/>
              <a:cxnLst/>
              <a:rect r="r" b="b" t="t" l="l"/>
              <a:pathLst>
                <a:path h="11338560" w="11338560">
                  <a:moveTo>
                    <a:pt x="0" y="5669280"/>
                  </a:moveTo>
                  <a:cubicBezTo>
                    <a:pt x="0" y="2538222"/>
                    <a:pt x="2538222" y="0"/>
                    <a:pt x="5669280" y="0"/>
                  </a:cubicBezTo>
                  <a:cubicBezTo>
                    <a:pt x="8800338" y="0"/>
                    <a:pt x="11338560" y="2538222"/>
                    <a:pt x="11338560" y="5669280"/>
                  </a:cubicBezTo>
                  <a:cubicBezTo>
                    <a:pt x="11338560" y="8800338"/>
                    <a:pt x="8800338" y="11338560"/>
                    <a:pt x="5669280" y="11338560"/>
                  </a:cubicBezTo>
                  <a:cubicBezTo>
                    <a:pt x="2538222" y="11338560"/>
                    <a:pt x="0" y="8800338"/>
                    <a:pt x="0" y="5669280"/>
                  </a:cubicBezTo>
                  <a:close/>
                </a:path>
              </a:pathLst>
            </a:custGeom>
            <a:solidFill>
              <a:srgbClr val="2A19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990320" y="5760720"/>
            <a:ext cx="7680960" cy="7680960"/>
            <a:chOff x="0" y="0"/>
            <a:chExt cx="10241280" cy="10241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0241280">
                  <a:moveTo>
                    <a:pt x="0" y="5120640"/>
                  </a:moveTo>
                  <a:cubicBezTo>
                    <a:pt x="0" y="2292604"/>
                    <a:pt x="2292604" y="0"/>
                    <a:pt x="5120640" y="0"/>
                  </a:cubicBezTo>
                  <a:cubicBezTo>
                    <a:pt x="7948676" y="0"/>
                    <a:pt x="10241280" y="2292604"/>
                    <a:pt x="10241280" y="5120640"/>
                  </a:cubicBezTo>
                  <a:cubicBezTo>
                    <a:pt x="10241280" y="7948676"/>
                    <a:pt x="7948676" y="10241280"/>
                    <a:pt x="5120640" y="10241280"/>
                  </a:cubicBezTo>
                  <a:cubicBezTo>
                    <a:pt x="2292604" y="10241280"/>
                    <a:pt x="0" y="7948676"/>
                    <a:pt x="0" y="5120640"/>
                  </a:cubicBezTo>
                  <a:close/>
                </a:path>
              </a:pathLst>
            </a:custGeom>
            <a:solidFill>
              <a:srgbClr val="2A191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23860" y="2606040"/>
            <a:ext cx="1165860" cy="1165860"/>
            <a:chOff x="0" y="0"/>
            <a:chExt cx="1554480" cy="1554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C68B3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23860" y="2606040"/>
            <a:ext cx="1165860" cy="1165860"/>
            <a:chOff x="0" y="0"/>
            <a:chExt cx="155448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1554480" cy="1668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>
                  <a:solidFill>
                    <a:srgbClr val="3B241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☕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1540" y="4183380"/>
            <a:ext cx="16459200" cy="1508760"/>
            <a:chOff x="0" y="0"/>
            <a:chExt cx="21945600" cy="2011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94560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F6EFE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1540" y="5692140"/>
            <a:ext cx="16459200" cy="685800"/>
            <a:chOff x="0" y="0"/>
            <a:chExt cx="219456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9456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EFE2D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Questions and discussion welcome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1540" y="9189720"/>
            <a:ext cx="16459200" cy="548640"/>
            <a:chOff x="0" y="0"/>
            <a:chExt cx="219456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8A7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Analysis based on Bright Coffee POS data, Jan–Jun 2023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DAHT-tiJd7Y</dc:identifier>
  <dcterms:modified xsi:type="dcterms:W3CDTF">2011-08-01T06:04:30Z</dcterms:modified>
  <cp:revision>1</cp:revision>
  <dc:title>Bright_Coffee_Sales_Review.pptx</dc:title>
</cp:coreProperties>
</file>